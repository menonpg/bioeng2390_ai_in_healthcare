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73" r:id="rId2"/>
    <p:sldId id="274" r:id="rId3"/>
    <p:sldId id="313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90" r:id="rId18"/>
    <p:sldId id="292" r:id="rId19"/>
    <p:sldId id="289" r:id="rId20"/>
    <p:sldId id="291" r:id="rId21"/>
    <p:sldId id="294" r:id="rId22"/>
    <p:sldId id="293" r:id="rId23"/>
    <p:sldId id="295" r:id="rId2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630" autoAdjust="0"/>
  </p:normalViewPr>
  <p:slideViewPr>
    <p:cSldViewPr>
      <p:cViewPr varScale="1">
        <p:scale>
          <a:sx n="105" d="100"/>
          <a:sy n="105" d="100"/>
        </p:scale>
        <p:origin x="23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3920619-ACB3-4397-BE70-CCA2EB732DA7}" type="datetimeFigureOut">
              <a:rPr lang="en-US" smtClean="0"/>
              <a:pPr/>
              <a:t>3/3/25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877474C-0B40-4F6A-8023-ABD0CB62EE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EEAB5E-FC60-4BC6-B51F-AF336EA4683F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2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72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61AB91-1A82-46CE-891F-EC933198AE20}" type="slidenum">
              <a:rPr lang="en-US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2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14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FBF587-AEB4-4D42-9E78-B4E27372D696}" type="slidenum">
              <a:rPr lang="en-US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2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14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8C4174-730E-47E2-908E-F62E1B9FFEED}" type="slidenum">
              <a:rPr lang="en-US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27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7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9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13B431-E784-4A18-ABAF-56AE1B68729F}" type="slidenum">
              <a:rPr lang="en-US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29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9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39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EB0A7B-D1A2-49C8-B955-2A0F1F09242A}" type="slidenum">
              <a:rPr lang="en-US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30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0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6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DD4BD6-5FAC-4FCB-8387-4303AE39E767}" type="slidenum">
              <a:rPr lang="en-US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32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2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53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3B6F37-B42A-4BE4-A76E-34690D60A11C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3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00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B8D75D-3097-425C-A4CC-9A4907683666}" type="slidenum">
              <a:rPr lang="en-US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3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52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A3E2F9-9FAA-4E2B-94B3-2CD5A064B679}" type="slidenum">
              <a:rPr lang="en-US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3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8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21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B11219-2586-466F-90E0-BFFD7574C145}" type="slidenum">
              <a:rPr lang="en-US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39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52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FCCE44-B682-49A3-B7E8-64809957B2D5}" type="slidenum">
              <a:rPr lang="en-US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4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39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C924D8-BD0B-46B6-9471-8BAC1E80F222}" type="slidenum">
              <a:rPr lang="en-US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4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6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563F95-729A-4E94-A3EF-E818A4CBC51E}" type="slidenum">
              <a:rPr lang="en-US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78082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7" tIns="48323" rIns="96647" bIns="48323"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03263" indent="-2714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081088" indent="-215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12888" indent="-215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46275" indent="-215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034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606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178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750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D77C8A33-8D16-4804-8D46-CB126839AF0C}" type="slidenum">
              <a:rPr lang="en-US" sz="1200">
                <a:solidFill>
                  <a:prstClr val="black"/>
                </a:solidFill>
                <a:latin typeface="Arial" charset="0"/>
                <a:cs typeface="Arial" charset="0"/>
              </a:rPr>
              <a:pPr algn="r" eaLnBrk="1" hangingPunct="1"/>
              <a:t>14</a:t>
            </a:fld>
            <a:endParaRPr lang="en-US" sz="12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478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478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</p:spPr>
        <p:txBody>
          <a:bodyPr lIns="96647" tIns="48323" rIns="96647" bIns="48323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50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ED8E44-2E8E-494B-A9C5-8F2C164C32F0}" type="slidenum">
              <a:rPr lang="en-US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80130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7" tIns="48323" rIns="96647" bIns="48323"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03263" indent="-2714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081088" indent="-215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12888" indent="-215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46275" indent="-215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034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606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178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750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DD52DAF1-3B4A-45DA-A68A-F013CDC19D4D}" type="slidenum">
              <a:rPr lang="en-US" sz="1200">
                <a:solidFill>
                  <a:prstClr val="black"/>
                </a:solidFill>
                <a:latin typeface="Arial" charset="0"/>
                <a:cs typeface="Arial" charset="0"/>
              </a:rPr>
              <a:pPr algn="r" eaLnBrk="1" hangingPunct="1"/>
              <a:t>15</a:t>
            </a:fld>
            <a:endParaRPr lang="en-US" sz="12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480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480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</p:spPr>
        <p:txBody>
          <a:bodyPr lIns="96647" tIns="48323" rIns="96647" bIns="48323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42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64F26B-712A-483E-A445-4C2F3183C922}" type="slidenum">
              <a:rPr lang="en-US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42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2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67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8F4E65-162E-404B-B876-E9A374EAF1FF}" type="slidenum">
              <a:rPr lang="en-US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4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33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C43528-6815-408D-9AAC-539719CC5F2D}" type="slidenum">
              <a:rPr lang="en-US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4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35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63FAAD-1C90-43A2-B6FC-8471704374FA}" type="slidenum">
              <a:rPr lang="en-US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4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73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1AB81A-A868-4A59-A8FC-6196DF1D8A6E}" type="slidenum">
              <a:rPr lang="en-US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9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204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061F08-785B-451B-938D-6315E5F93E90}" type="slidenum">
              <a:rPr lang="en-US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84226" name="Rectangle 7"/>
          <p:cNvSpPr txBox="1">
            <a:spLocks noGrp="1" noChangeArrowheads="1"/>
          </p:cNvSpPr>
          <p:nvPr/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7" tIns="48323" rIns="96647" bIns="48323"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03263" indent="-271463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081088" indent="-215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12888" indent="-215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46275" indent="-215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034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606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178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75075" indent="-215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D1283866-5CDF-47AB-ABD9-DC0C497DC855}" type="slidenum">
              <a:rPr lang="en-US" sz="1200">
                <a:solidFill>
                  <a:prstClr val="black"/>
                </a:solidFill>
                <a:latin typeface="Arial" charset="0"/>
                <a:cs typeface="Arial" charset="0"/>
              </a:rPr>
              <a:pPr algn="r" eaLnBrk="1" hangingPunct="1"/>
              <a:t>21</a:t>
            </a:fld>
            <a:endParaRPr lang="en-US" sz="12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484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2484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</p:spPr>
        <p:txBody>
          <a:bodyPr lIns="96647" tIns="48323" rIns="96647" bIns="48323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452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5A1AE9-B843-4B5F-A7E8-F3C44AFCF5C4}" type="slidenum">
              <a:rPr lang="en-US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5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008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45C5A2-F7DC-4390-BDA1-FC5F92EF84FB}" type="slidenum">
              <a:rPr lang="en-US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488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75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DE880-269C-4531-AD66-CC3D957BEB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638" y="568836"/>
            <a:ext cx="8229600" cy="53639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AF907-7185-42E0-8068-70682D5E898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3CDB2-B7F5-497A-A11A-1943480802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7A3AD-4295-4355-B826-6DFE92312D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B8E7C-8307-4D26-8DEA-D2690E67D15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4F9D7-6F78-4C99-BBAB-7F4CEB60AC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F7373-823E-4CA1-A405-CD177EA309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DF150-2608-457F-B3F9-C69B9ECEE3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0C7BD-1919-499B-8BBE-211A45E2E1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891B4-CA34-4372-8BD0-1C23EBE783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FDBDC-32F1-46E5-BCCE-3EC8D7F146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5B495-A1C5-490B-945D-DABEFB3ADB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/>
            </a:lvl1pPr>
            <a:lvl2pPr indent="457200">
              <a:defRPr/>
            </a:lvl2pPr>
            <a:lvl3pPr indent="914400">
              <a:defRPr/>
            </a:lvl3pPr>
            <a:lvl4pPr indent="1371600"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0" y="76200"/>
            <a:ext cx="8521700" cy="701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913" y="1066800"/>
            <a:ext cx="4178300" cy="525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066800"/>
            <a:ext cx="4179887" cy="2552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771900"/>
            <a:ext cx="4179887" cy="2552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433763" y="63436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04800" y="6324600"/>
            <a:ext cx="2743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162800" y="6324600"/>
            <a:ext cx="1676400" cy="457200"/>
          </a:xfrm>
        </p:spPr>
        <p:txBody>
          <a:bodyPr/>
          <a:lstStyle>
            <a:lvl1pPr>
              <a:defRPr/>
            </a:lvl1pPr>
          </a:lstStyle>
          <a:p>
            <a:fld id="{C1F094F6-4E98-40D9-B563-3FF1BB3F06F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4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Line 13"/>
          <p:cNvSpPr>
            <a:spLocks noChangeShapeType="1"/>
          </p:cNvSpPr>
          <p:nvPr userDrawn="1"/>
        </p:nvSpPr>
        <p:spPr bwMode="auto">
          <a:xfrm>
            <a:off x="0" y="6391275"/>
            <a:ext cx="9144000" cy="0"/>
          </a:xfrm>
          <a:prstGeom prst="line">
            <a:avLst/>
          </a:prstGeom>
          <a:noFill/>
          <a:ln w="19050">
            <a:solidFill>
              <a:srgbClr val="DDDDDD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38" name="Line 14"/>
          <p:cNvSpPr>
            <a:spLocks noChangeShapeType="1"/>
          </p:cNvSpPr>
          <p:nvPr userDrawn="1"/>
        </p:nvSpPr>
        <p:spPr bwMode="auto">
          <a:xfrm>
            <a:off x="0" y="1143000"/>
            <a:ext cx="9144000" cy="0"/>
          </a:xfrm>
          <a:prstGeom prst="line">
            <a:avLst/>
          </a:prstGeom>
          <a:noFill/>
          <a:ln w="19050">
            <a:solidFill>
              <a:srgbClr val="DDDDDD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9605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CC33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EDBF6F-B081-4C68-8076-6D007452CAF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6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C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C33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C33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C33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C33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CC33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CC33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CC33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CC33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w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9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553200"/>
            <a:ext cx="1676400" cy="457200"/>
          </a:xfrm>
          <a:prstGeom prst="rect">
            <a:avLst/>
          </a:prstGeom>
        </p:spPr>
        <p:txBody>
          <a:bodyPr/>
          <a:lstStyle/>
          <a:p>
            <a:fld id="{CAF6525B-76F5-4226-99BC-B28D3193FFE3}" type="slidenum">
              <a:rPr lang="en-US"/>
              <a:pPr/>
              <a:t>1</a:t>
            </a:fld>
            <a:endParaRPr lang="en-US"/>
          </a:p>
        </p:txBody>
      </p:sp>
      <p:sp>
        <p:nvSpPr>
          <p:cNvPr id="236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457200"/>
            <a:ext cx="8229600" cy="536395"/>
          </a:xfrm>
        </p:spPr>
        <p:txBody>
          <a:bodyPr/>
          <a:lstStyle/>
          <a:p>
            <a:r>
              <a:rPr lang="en-US" b="1" dirty="0"/>
              <a:t>Principal Component Analysis </a:t>
            </a:r>
            <a:r>
              <a:rPr lang="en-US" dirty="0"/>
              <a:t>(PCA)</a:t>
            </a:r>
          </a:p>
        </p:txBody>
      </p:sp>
      <p:sp>
        <p:nvSpPr>
          <p:cNvPr id="2363395" name="Rectangle 3"/>
          <p:cNvSpPr>
            <a:spLocks noChangeArrowheads="1"/>
          </p:cNvSpPr>
          <p:nvPr/>
        </p:nvSpPr>
        <p:spPr bwMode="auto">
          <a:xfrm>
            <a:off x="228600" y="12192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b="1" dirty="0">
                <a:solidFill>
                  <a:srgbClr val="808080"/>
                </a:solidFill>
              </a:rPr>
              <a:t>Pattern recognition in high-dimensional spaces</a:t>
            </a:r>
          </a:p>
        </p:txBody>
      </p:sp>
      <p:sp>
        <p:nvSpPr>
          <p:cNvPr id="2363396" name="Rectangle 4"/>
          <p:cNvSpPr>
            <a:spLocks noChangeArrowheads="1"/>
          </p:cNvSpPr>
          <p:nvPr/>
        </p:nvSpPr>
        <p:spPr bwMode="auto">
          <a:xfrm>
            <a:off x="228600" y="1752600"/>
            <a:ext cx="8610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Problems arise when performing recognition in a high-dimensional space (curse of dimensionality).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Significant improvements can be achieved by first mapping the data into a </a:t>
            </a:r>
            <a:r>
              <a:rPr lang="en-US" sz="2000" i="1" dirty="0"/>
              <a:t>lower-dimensional sub-</a:t>
            </a:r>
            <a:r>
              <a:rPr lang="en-US" sz="2000" dirty="0"/>
              <a:t>space.</a:t>
            </a:r>
          </a:p>
        </p:txBody>
      </p:sp>
      <p:sp>
        <p:nvSpPr>
          <p:cNvPr id="2363397" name="Rectangle 5"/>
          <p:cNvSpPr>
            <a:spLocks noChangeArrowheads="1"/>
          </p:cNvSpPr>
          <p:nvPr/>
        </p:nvSpPr>
        <p:spPr bwMode="auto">
          <a:xfrm>
            <a:off x="228600" y="5257800"/>
            <a:ext cx="8610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The goal of PCA is to reduce the dimensionality of the data </a:t>
            </a:r>
            <a:r>
              <a:rPr lang="en-US" sz="2000" b="1" dirty="0"/>
              <a:t>while</a:t>
            </a:r>
            <a:r>
              <a:rPr lang="en-US" sz="2000" dirty="0"/>
              <a:t> </a:t>
            </a:r>
            <a:r>
              <a:rPr lang="en-US" sz="2000" b="1" dirty="0"/>
              <a:t>retaining as much information as possible </a:t>
            </a:r>
            <a:r>
              <a:rPr lang="en-US" sz="2000" dirty="0"/>
              <a:t>in the original dataset.</a:t>
            </a:r>
          </a:p>
        </p:txBody>
      </p:sp>
      <p:pic>
        <p:nvPicPr>
          <p:cNvPr id="2363398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3503613"/>
            <a:ext cx="6380163" cy="1296987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1FC8BE0A-AD44-4A88-BE8A-9AE362147206}" type="slidenum">
              <a:rPr lang="en-US"/>
              <a:pPr/>
              <a:t>2</a:t>
            </a:fld>
            <a:endParaRPr lang="en-US"/>
          </a:p>
        </p:txBody>
      </p:sp>
      <p:sp>
        <p:nvSpPr>
          <p:cNvPr id="236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457200"/>
            <a:ext cx="8229600" cy="536395"/>
          </a:xfrm>
        </p:spPr>
        <p:txBody>
          <a:bodyPr/>
          <a:lstStyle/>
          <a:p>
            <a:r>
              <a:rPr lang="en-US" b="1" dirty="0"/>
              <a:t>Principal Component Analysis </a:t>
            </a:r>
            <a:r>
              <a:rPr lang="en-US" dirty="0"/>
              <a:t>(PCA)</a:t>
            </a:r>
          </a:p>
        </p:txBody>
      </p:sp>
      <p:sp>
        <p:nvSpPr>
          <p:cNvPr id="2364419" name="Rectangle 3"/>
          <p:cNvSpPr>
            <a:spLocks noChangeArrowheads="1"/>
          </p:cNvSpPr>
          <p:nvPr/>
        </p:nvSpPr>
        <p:spPr bwMode="auto">
          <a:xfrm>
            <a:off x="228600" y="12192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b="1" dirty="0">
                <a:solidFill>
                  <a:srgbClr val="808080"/>
                </a:solidFill>
              </a:rPr>
              <a:t>Dimensionality reduction</a:t>
            </a:r>
          </a:p>
        </p:txBody>
      </p:sp>
      <p:sp>
        <p:nvSpPr>
          <p:cNvPr id="2364420" name="Rectangle 4"/>
          <p:cNvSpPr>
            <a:spLocks noChangeArrowheads="1"/>
          </p:cNvSpPr>
          <p:nvPr/>
        </p:nvSpPr>
        <p:spPr bwMode="auto">
          <a:xfrm>
            <a:off x="228600" y="1790997"/>
            <a:ext cx="8610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PCA allows us to compute a linear transformation that maps data from a high dimensional space to a lower dimensional sub-space.</a:t>
            </a:r>
          </a:p>
        </p:txBody>
      </p:sp>
      <p:pic>
        <p:nvPicPr>
          <p:cNvPr id="2364421" name="Picture 5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427"/>
          <a:stretch/>
        </p:blipFill>
        <p:spPr>
          <a:xfrm>
            <a:off x="2209800" y="4737100"/>
            <a:ext cx="4724400" cy="128270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" t="41963"/>
          <a:stretch/>
        </p:blipFill>
        <p:spPr bwMode="auto">
          <a:xfrm>
            <a:off x="2209800" y="2862262"/>
            <a:ext cx="4406900" cy="163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989493" y="251013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808080"/>
                </a:solidFill>
              </a:rPr>
              <a:t>K x N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2BBF560D-626D-4A7A-87F4-D03FEB2063D1}" type="slidenum">
              <a:rPr lang="en-US"/>
              <a:pPr/>
              <a:t>3</a:t>
            </a:fld>
            <a:endParaRPr lang="en-US"/>
          </a:p>
        </p:txBody>
      </p:sp>
      <p:sp>
        <p:nvSpPr>
          <p:cNvPr id="236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Principal Component Analysis (PCA)</a:t>
            </a:r>
          </a:p>
        </p:txBody>
      </p:sp>
      <p:pic>
        <p:nvPicPr>
          <p:cNvPr id="2365443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2895600"/>
            <a:ext cx="4648200" cy="81915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365444" name="Rectangle 4"/>
          <p:cNvSpPr>
            <a:spLocks noChangeArrowheads="1"/>
          </p:cNvSpPr>
          <p:nvPr/>
        </p:nvSpPr>
        <p:spPr bwMode="auto">
          <a:xfrm>
            <a:off x="228600" y="9906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>
                <a:solidFill>
                  <a:srgbClr val="808080"/>
                </a:solidFill>
              </a:rPr>
              <a:t>Lower dimensionality basis</a:t>
            </a:r>
          </a:p>
        </p:txBody>
      </p:sp>
      <p:sp>
        <p:nvSpPr>
          <p:cNvPr id="2365445" name="Rectangle 5"/>
          <p:cNvSpPr>
            <a:spLocks noChangeArrowheads="1"/>
          </p:cNvSpPr>
          <p:nvPr/>
        </p:nvSpPr>
        <p:spPr bwMode="auto">
          <a:xfrm>
            <a:off x="228600" y="1524000"/>
            <a:ext cx="8610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Approximate vectors by finding a basis in an appropriate lower dimensional space.</a:t>
            </a:r>
          </a:p>
        </p:txBody>
      </p:sp>
      <p:sp>
        <p:nvSpPr>
          <p:cNvPr id="2365446" name="Rectangle 6"/>
          <p:cNvSpPr>
            <a:spLocks noChangeArrowheads="1"/>
          </p:cNvSpPr>
          <p:nvPr/>
        </p:nvSpPr>
        <p:spPr bwMode="auto">
          <a:xfrm>
            <a:off x="228600" y="2286000"/>
            <a:ext cx="861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lvl="2" indent="-228600">
              <a:spcBef>
                <a:spcPct val="20000"/>
              </a:spcBef>
              <a:buClr>
                <a:srgbClr val="000000"/>
              </a:buClr>
              <a:buFont typeface="Arial" charset="0"/>
              <a:buNone/>
            </a:pPr>
            <a:r>
              <a:rPr lang="en-US" dirty="0">
                <a:solidFill>
                  <a:srgbClr val="808080"/>
                </a:solidFill>
              </a:rPr>
              <a:t>	(1) </a:t>
            </a:r>
            <a:r>
              <a:rPr lang="en-US" dirty="0">
                <a:solidFill>
                  <a:srgbClr val="FFC000"/>
                </a:solidFill>
              </a:rPr>
              <a:t>Higher-dimensional</a:t>
            </a:r>
            <a:r>
              <a:rPr lang="en-US" dirty="0">
                <a:solidFill>
                  <a:srgbClr val="808080"/>
                </a:solidFill>
              </a:rPr>
              <a:t> space representation:</a:t>
            </a:r>
          </a:p>
        </p:txBody>
      </p:sp>
      <p:sp>
        <p:nvSpPr>
          <p:cNvPr id="2365447" name="Rectangle 7"/>
          <p:cNvSpPr>
            <a:spLocks noChangeArrowheads="1"/>
          </p:cNvSpPr>
          <p:nvPr/>
        </p:nvSpPr>
        <p:spPr bwMode="auto">
          <a:xfrm>
            <a:off x="228600" y="4038600"/>
            <a:ext cx="861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lvl="2" indent="-228600">
              <a:spcBef>
                <a:spcPct val="20000"/>
              </a:spcBef>
              <a:buClr>
                <a:srgbClr val="000000"/>
              </a:buClr>
              <a:buFont typeface="Arial" charset="0"/>
              <a:buNone/>
            </a:pPr>
            <a:r>
              <a:rPr lang="en-US" dirty="0">
                <a:solidFill>
                  <a:srgbClr val="808080"/>
                </a:solidFill>
              </a:rPr>
              <a:t>	(2) </a:t>
            </a:r>
            <a:r>
              <a:rPr lang="en-US" dirty="0">
                <a:solidFill>
                  <a:srgbClr val="FFC000"/>
                </a:solidFill>
              </a:rPr>
              <a:t>Lower-dimensional</a:t>
            </a:r>
            <a:r>
              <a:rPr lang="en-US" dirty="0">
                <a:solidFill>
                  <a:srgbClr val="808080"/>
                </a:solidFill>
              </a:rPr>
              <a:t> space representation:</a:t>
            </a:r>
          </a:p>
        </p:txBody>
      </p:sp>
      <p:pic>
        <p:nvPicPr>
          <p:cNvPr id="2365448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4648200"/>
            <a:ext cx="5943600" cy="128905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761FEDBF-C355-48FA-80C9-9F04603B04DE}" type="slidenum">
              <a:rPr lang="en-US"/>
              <a:pPr/>
              <a:t>4</a:t>
            </a:fld>
            <a:endParaRPr lang="en-US"/>
          </a:p>
        </p:txBody>
      </p:sp>
      <p:sp>
        <p:nvSpPr>
          <p:cNvPr id="236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457200"/>
            <a:ext cx="8229600" cy="536395"/>
          </a:xfrm>
        </p:spPr>
        <p:txBody>
          <a:bodyPr/>
          <a:lstStyle/>
          <a:p>
            <a:r>
              <a:rPr lang="en-US" b="1" dirty="0"/>
              <a:t>Principal Component Analysis </a:t>
            </a:r>
            <a:r>
              <a:rPr lang="en-US" dirty="0"/>
              <a:t>(PCA)</a:t>
            </a:r>
          </a:p>
        </p:txBody>
      </p:sp>
      <p:sp>
        <p:nvSpPr>
          <p:cNvPr id="2368515" name="Rectangle 3"/>
          <p:cNvSpPr>
            <a:spLocks noChangeArrowheads="1"/>
          </p:cNvSpPr>
          <p:nvPr/>
        </p:nvSpPr>
        <p:spPr bwMode="auto">
          <a:xfrm>
            <a:off x="228600" y="12954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b="1" dirty="0">
                <a:solidFill>
                  <a:srgbClr val="808080"/>
                </a:solidFill>
              </a:rPr>
              <a:t>Methodology</a:t>
            </a:r>
            <a:endParaRPr lang="en-US" b="1" dirty="0">
              <a:solidFill>
                <a:srgbClr val="808080"/>
              </a:solidFill>
            </a:endParaRPr>
          </a:p>
        </p:txBody>
      </p:sp>
      <p:sp>
        <p:nvSpPr>
          <p:cNvPr id="2368516" name="Rectangle 4"/>
          <p:cNvSpPr>
            <a:spLocks noChangeArrowheads="1"/>
          </p:cNvSpPr>
          <p:nvPr/>
        </p:nvSpPr>
        <p:spPr bwMode="auto">
          <a:xfrm>
            <a:off x="228600" y="1752600"/>
            <a:ext cx="861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Suppose </a:t>
            </a:r>
            <a:r>
              <a:rPr lang="en-US" sz="2000" i="1" dirty="0"/>
              <a:t>x</a:t>
            </a:r>
            <a:r>
              <a:rPr lang="en-US" sz="2000" baseline="-25000" dirty="0"/>
              <a:t>1</a:t>
            </a:r>
            <a:r>
              <a:rPr lang="en-US" sz="2000" dirty="0"/>
              <a:t>, </a:t>
            </a:r>
            <a:r>
              <a:rPr lang="en-US" sz="2000" i="1" dirty="0"/>
              <a:t>x</a:t>
            </a:r>
            <a:r>
              <a:rPr lang="en-US" sz="2000" baseline="-25000" dirty="0"/>
              <a:t>2</a:t>
            </a:r>
            <a:r>
              <a:rPr lang="en-US" sz="2000" dirty="0"/>
              <a:t>, ..., </a:t>
            </a:r>
            <a:r>
              <a:rPr lang="en-US" sz="2000" i="1" dirty="0" err="1"/>
              <a:t>x</a:t>
            </a:r>
            <a:r>
              <a:rPr lang="en-US" sz="2000" i="1" baseline="-25000" dirty="0" err="1"/>
              <a:t>M</a:t>
            </a:r>
            <a:r>
              <a:rPr lang="en-US" sz="2000" i="1" dirty="0"/>
              <a:t> </a:t>
            </a:r>
            <a:r>
              <a:rPr lang="en-US" sz="2000" dirty="0"/>
              <a:t>are </a:t>
            </a:r>
            <a:r>
              <a:rPr lang="en-US" sz="2000" i="1" dirty="0"/>
              <a:t>N </a:t>
            </a:r>
            <a:r>
              <a:rPr lang="en-US" sz="2000" dirty="0"/>
              <a:t>x 1 vectors</a:t>
            </a:r>
          </a:p>
        </p:txBody>
      </p:sp>
      <p:pic>
        <p:nvPicPr>
          <p:cNvPr id="236851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2151062"/>
            <a:ext cx="7239000" cy="402113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368518" name="Text Box 6"/>
          <p:cNvSpPr txBox="1">
            <a:spLocks noChangeArrowheads="1"/>
          </p:cNvSpPr>
          <p:nvPr/>
        </p:nvSpPr>
        <p:spPr bwMode="auto">
          <a:xfrm>
            <a:off x="5394325" y="40036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368519" name="Object 7"/>
          <p:cNvGraphicFramePr>
            <a:graphicFrameLocks noChangeAspect="1"/>
          </p:cNvGraphicFramePr>
          <p:nvPr/>
        </p:nvGraphicFramePr>
        <p:xfrm>
          <a:off x="5257800" y="4114800"/>
          <a:ext cx="3540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501" imgH="393529" progId="">
                  <p:embed/>
                </p:oleObj>
              </mc:Choice>
              <mc:Fallback>
                <p:oleObj name="Equation" r:id="rId4" imgW="228501" imgH="393529" progId="">
                  <p:embed/>
                  <p:pic>
                    <p:nvPicPr>
                      <p:cNvPr id="23685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114800"/>
                        <a:ext cx="3540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953000" y="2959099"/>
            <a:ext cx="2699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08080"/>
                </a:solidFill>
              </a:rPr>
              <a:t>(i.e., center at zero)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A21EFDA9-00BE-41A7-9A59-76DB07174511}" type="slidenum">
              <a:rPr lang="en-US"/>
              <a:pPr/>
              <a:t>5</a:t>
            </a:fld>
            <a:endParaRPr lang="en-US"/>
          </a:p>
        </p:txBody>
      </p:sp>
      <p:sp>
        <p:nvSpPr>
          <p:cNvPr id="231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381000"/>
            <a:ext cx="8229600" cy="536395"/>
          </a:xfrm>
        </p:spPr>
        <p:txBody>
          <a:bodyPr/>
          <a:lstStyle/>
          <a:p>
            <a:r>
              <a:rPr lang="en-US" b="1" dirty="0"/>
              <a:t>Principal Component Analysis </a:t>
            </a:r>
            <a:r>
              <a:rPr lang="en-US" dirty="0"/>
              <a:t>(PCA)</a:t>
            </a:r>
          </a:p>
        </p:txBody>
      </p:sp>
      <p:sp>
        <p:nvSpPr>
          <p:cNvPr id="2316291" name="Rectangle 3"/>
          <p:cNvSpPr>
            <a:spLocks noChangeArrowheads="1"/>
          </p:cNvSpPr>
          <p:nvPr/>
        </p:nvSpPr>
        <p:spPr bwMode="auto">
          <a:xfrm>
            <a:off x="228600" y="1226403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b="1" dirty="0">
                <a:solidFill>
                  <a:srgbClr val="808080"/>
                </a:solidFill>
              </a:rPr>
              <a:t>Linear transformation implied by PCA</a:t>
            </a:r>
          </a:p>
        </p:txBody>
      </p:sp>
      <p:sp>
        <p:nvSpPr>
          <p:cNvPr id="2316292" name="Rectangle 4"/>
          <p:cNvSpPr>
            <a:spLocks noChangeArrowheads="1"/>
          </p:cNvSpPr>
          <p:nvPr/>
        </p:nvSpPr>
        <p:spPr bwMode="auto">
          <a:xfrm>
            <a:off x="228600" y="1683603"/>
            <a:ext cx="8610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effective</a:t>
            </a:r>
            <a:r>
              <a:rPr lang="en-US" sz="2000" dirty="0"/>
              <a:t> linear transformation </a:t>
            </a:r>
            <a:r>
              <a:rPr lang="en-US" sz="2000" i="1" dirty="0"/>
              <a:t>R</a:t>
            </a:r>
            <a:r>
              <a:rPr lang="en-US" sz="2000" i="1" baseline="30000" dirty="0"/>
              <a:t>N</a:t>
            </a:r>
            <a:r>
              <a:rPr lang="en-US" sz="2000" i="1" dirty="0"/>
              <a:t> </a:t>
            </a:r>
            <a:r>
              <a:rPr lang="en-US" sz="2000" dirty="0">
                <a:sym typeface="Symbol" pitchFamily="18" charset="2"/>
              </a:rPr>
              <a:t> </a:t>
            </a:r>
            <a:r>
              <a:rPr lang="en-US" sz="2000" i="1" dirty="0"/>
              <a:t>R</a:t>
            </a:r>
            <a:r>
              <a:rPr lang="en-US" sz="2000" i="1" baseline="30000" dirty="0"/>
              <a:t>K</a:t>
            </a:r>
            <a:r>
              <a:rPr lang="en-US" sz="2000" i="1" dirty="0"/>
              <a:t> </a:t>
            </a:r>
            <a:r>
              <a:rPr lang="en-US" sz="2000" dirty="0"/>
              <a:t>that performs the dimensionality reduction is:</a:t>
            </a:r>
          </a:p>
        </p:txBody>
      </p:sp>
      <p:pic>
        <p:nvPicPr>
          <p:cNvPr id="2316293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9400" y="2667000"/>
            <a:ext cx="3670300" cy="143192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316299" name="Text Box 11"/>
          <p:cNvSpPr txBox="1">
            <a:spLocks noChangeArrowheads="1"/>
          </p:cNvSpPr>
          <p:nvPr/>
        </p:nvSpPr>
        <p:spPr bwMode="auto">
          <a:xfrm>
            <a:off x="1447800" y="4495800"/>
            <a:ext cx="57717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(i.e., simply computing coefficients of linear expansion)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9D7F089C-9C7A-4A37-B892-2D91A98F963F}" type="slidenum">
              <a:rPr lang="en-US"/>
              <a:pPr/>
              <a:t>6</a:t>
            </a:fld>
            <a:endParaRPr lang="en-US"/>
          </a:p>
        </p:txBody>
      </p:sp>
      <p:sp>
        <p:nvSpPr>
          <p:cNvPr id="2317315" name="Rectangle 3"/>
          <p:cNvSpPr>
            <a:spLocks noChangeArrowheads="1"/>
          </p:cNvSpPr>
          <p:nvPr/>
        </p:nvSpPr>
        <p:spPr bwMode="auto">
          <a:xfrm>
            <a:off x="228600" y="11430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b="1" dirty="0">
                <a:solidFill>
                  <a:srgbClr val="808080"/>
                </a:solidFill>
              </a:rPr>
              <a:t>Geometric interpretation</a:t>
            </a:r>
          </a:p>
        </p:txBody>
      </p:sp>
      <p:sp>
        <p:nvSpPr>
          <p:cNvPr id="2317316" name="Rectangle 4"/>
          <p:cNvSpPr>
            <a:spLocks noChangeArrowheads="1"/>
          </p:cNvSpPr>
          <p:nvPr/>
        </p:nvSpPr>
        <p:spPr bwMode="auto">
          <a:xfrm>
            <a:off x="228600" y="1600200"/>
            <a:ext cx="86106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PCA projects the data along the directions where the data varies the most.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These directions are determined by the eigenvectors of the covariance matrix corresponding to the largest eigenvalues.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The magnitude of the eigenvalues corresponds to the variance of the data along the eigenvector directions.</a:t>
            </a:r>
          </a:p>
        </p:txBody>
      </p:sp>
      <p:pic>
        <p:nvPicPr>
          <p:cNvPr id="231731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3810000"/>
            <a:ext cx="3352800" cy="234632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381000"/>
            <a:ext cx="8229600" cy="536395"/>
          </a:xfrm>
        </p:spPr>
        <p:txBody>
          <a:bodyPr/>
          <a:lstStyle/>
          <a:p>
            <a:r>
              <a:rPr lang="en-US" b="1" dirty="0"/>
              <a:t>Principal Component Analysis </a:t>
            </a:r>
            <a:r>
              <a:rPr lang="en-US" dirty="0"/>
              <a:t>(PCA)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66700" y="4543425"/>
            <a:ext cx="8610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dirty="0"/>
              <a:t>PCA minimizes the reconstruction error, </a:t>
            </a:r>
            <a:r>
              <a:rPr lang="en-US" i="1" dirty="0"/>
              <a:t>e</a:t>
            </a:r>
            <a:r>
              <a:rPr lang="en-US" dirty="0"/>
              <a:t>, and it can be shown that the error is equal to: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</a:pPr>
            <a:r>
              <a:rPr lang="en-US" dirty="0"/>
              <a:t>                                               </a:t>
            </a:r>
            <a:r>
              <a:rPr lang="en-US" dirty="0">
                <a:sym typeface="Wingdings" pitchFamily="2" charset="2"/>
              </a:rPr>
              <a:t></a:t>
            </a:r>
            <a:endParaRPr lang="en-US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2C2D2-AE45-4B4C-802C-5EF40AA3AA26}" type="slidenum">
              <a:rPr lang="en-US"/>
              <a:pPr/>
              <a:t>7</a:t>
            </a:fld>
            <a:endParaRPr lang="en-US"/>
          </a:p>
        </p:txBody>
      </p:sp>
      <p:sp>
        <p:nvSpPr>
          <p:cNvPr id="231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93700" y="136525"/>
            <a:ext cx="8521700" cy="701675"/>
          </a:xfrm>
        </p:spPr>
        <p:txBody>
          <a:bodyPr/>
          <a:lstStyle/>
          <a:p>
            <a:r>
              <a:rPr lang="en-US" sz="3600" b="1" dirty="0"/>
              <a:t>Principal Component Analysis </a:t>
            </a:r>
            <a:r>
              <a:rPr lang="en-US" sz="3600" dirty="0"/>
              <a:t>(PCA)</a:t>
            </a:r>
          </a:p>
        </p:txBody>
      </p:sp>
      <p:pic>
        <p:nvPicPr>
          <p:cNvPr id="2319363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9400" y="1965553"/>
            <a:ext cx="3733800" cy="1387247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319364" name="Rectangle 4"/>
          <p:cNvSpPr>
            <a:spLocks noChangeArrowheads="1"/>
          </p:cNvSpPr>
          <p:nvPr/>
        </p:nvSpPr>
        <p:spPr bwMode="auto">
          <a:xfrm>
            <a:off x="228600" y="12192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000" b="1" dirty="0"/>
              <a:t>How to choose K (i.e., number of principal components) ?</a:t>
            </a:r>
          </a:p>
        </p:txBody>
      </p:sp>
      <p:sp>
        <p:nvSpPr>
          <p:cNvPr id="2319365" name="Rectangle 5"/>
          <p:cNvSpPr>
            <a:spLocks noChangeArrowheads="1"/>
          </p:cNvSpPr>
          <p:nvPr/>
        </p:nvSpPr>
        <p:spPr bwMode="auto">
          <a:xfrm>
            <a:off x="228600" y="16002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/>
              <a:t>To choose </a:t>
            </a:r>
            <a:r>
              <a:rPr lang="en-US" sz="2000" i="1"/>
              <a:t>K</a:t>
            </a:r>
            <a:r>
              <a:rPr lang="en-US" sz="2000"/>
              <a:t>, use the following criterion:</a:t>
            </a:r>
            <a:endParaRPr lang="en-US" sz="2000" i="1"/>
          </a:p>
        </p:txBody>
      </p:sp>
      <p:sp>
        <p:nvSpPr>
          <p:cNvPr id="2319366" name="Rectangle 6"/>
          <p:cNvSpPr>
            <a:spLocks noChangeArrowheads="1"/>
          </p:cNvSpPr>
          <p:nvPr/>
        </p:nvSpPr>
        <p:spPr bwMode="auto">
          <a:xfrm>
            <a:off x="304800" y="3429000"/>
            <a:ext cx="86106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In this case, we say that we “preserve” 90% or 95% of the 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None/>
            </a:pPr>
            <a:r>
              <a:rPr lang="en-US" sz="2000" i="1" dirty="0"/>
              <a:t>	</a:t>
            </a:r>
            <a:r>
              <a:rPr lang="en-US" sz="2000" dirty="0"/>
              <a:t>information in our data.  If K=N, then we “preserve” 100% of the information in our data.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None/>
            </a:pPr>
            <a:endParaRPr lang="en-US" sz="2000" i="1" dirty="0"/>
          </a:p>
        </p:txBody>
      </p:sp>
      <p:pic>
        <p:nvPicPr>
          <p:cNvPr id="8" name="Picture 4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5410200"/>
            <a:ext cx="1524000" cy="479986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66700" y="5943600"/>
            <a:ext cx="861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dirty="0"/>
          </a:p>
        </p:txBody>
      </p:sp>
      <p:pic>
        <p:nvPicPr>
          <p:cNvPr id="11" name="Picture 9"/>
          <p:cNvPicPr>
            <a:picLocks noGrp="1" noChangeAspect="1" noChangeArrowheads="1"/>
          </p:cNvPicPr>
          <p:nvPr>
            <p:ph sz="half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43399" y="5280025"/>
            <a:ext cx="1699005" cy="7397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9365" grpId="0"/>
      <p:bldP spid="23193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FC0D-2FED-4AA1-97AC-4625F88A0CD5}" type="slidenum">
              <a:rPr lang="en-US"/>
              <a:pPr/>
              <a:t>8</a:t>
            </a:fld>
            <a:endParaRPr lang="en-US"/>
          </a:p>
        </p:txBody>
      </p:sp>
      <p:sp>
        <p:nvSpPr>
          <p:cNvPr id="232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Principal Component Analysis (PCA)</a:t>
            </a:r>
          </a:p>
        </p:txBody>
      </p:sp>
      <p:pic>
        <p:nvPicPr>
          <p:cNvPr id="2320387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67000" y="2209800"/>
            <a:ext cx="3962400" cy="81438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2320388" name="Picture 4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66131" y="3819525"/>
            <a:ext cx="1935537" cy="60960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320389" name="Rectangle 5"/>
          <p:cNvSpPr>
            <a:spLocks noChangeArrowheads="1"/>
          </p:cNvSpPr>
          <p:nvPr/>
        </p:nvSpPr>
        <p:spPr bwMode="auto">
          <a:xfrm>
            <a:off x="228600" y="9906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dirty="0">
                <a:solidFill>
                  <a:srgbClr val="808080"/>
                </a:solidFill>
              </a:rPr>
              <a:t>What is the error due to dimensionality reduction?</a:t>
            </a:r>
          </a:p>
        </p:txBody>
      </p:sp>
      <p:sp>
        <p:nvSpPr>
          <p:cNvPr id="2320390" name="Rectangle 6"/>
          <p:cNvSpPr>
            <a:spLocks noChangeArrowheads="1"/>
          </p:cNvSpPr>
          <p:nvPr/>
        </p:nvSpPr>
        <p:spPr bwMode="auto">
          <a:xfrm>
            <a:off x="228600" y="1447800"/>
            <a:ext cx="8610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>
                <a:solidFill>
                  <a:srgbClr val="808080"/>
                </a:solidFill>
              </a:rPr>
              <a:t>The original vector </a:t>
            </a:r>
            <a:r>
              <a:rPr lang="en-US" sz="2000" i="1">
                <a:solidFill>
                  <a:srgbClr val="808080"/>
                </a:solidFill>
              </a:rPr>
              <a:t>x </a:t>
            </a:r>
            <a:r>
              <a:rPr lang="en-US" sz="2000">
                <a:solidFill>
                  <a:srgbClr val="808080"/>
                </a:solidFill>
              </a:rPr>
              <a:t>can be reconstructed using its principal components:</a:t>
            </a:r>
          </a:p>
        </p:txBody>
      </p:sp>
      <p:sp>
        <p:nvSpPr>
          <p:cNvPr id="2320391" name="Rectangle 7"/>
          <p:cNvSpPr>
            <a:spLocks noChangeArrowheads="1"/>
          </p:cNvSpPr>
          <p:nvPr/>
        </p:nvSpPr>
        <p:spPr bwMode="auto">
          <a:xfrm>
            <a:off x="228600" y="3171825"/>
            <a:ext cx="8610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PCA minimizes the reconstruction error:</a:t>
            </a:r>
          </a:p>
        </p:txBody>
      </p:sp>
      <p:sp>
        <p:nvSpPr>
          <p:cNvPr id="2320392" name="Rectangle 8"/>
          <p:cNvSpPr>
            <a:spLocks noChangeArrowheads="1"/>
          </p:cNvSpPr>
          <p:nvPr/>
        </p:nvSpPr>
        <p:spPr bwMode="auto">
          <a:xfrm>
            <a:off x="228600" y="4572000"/>
            <a:ext cx="8610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>
                <a:solidFill>
                  <a:srgbClr val="808080"/>
                </a:solidFill>
              </a:rPr>
              <a:t>It can be shown that the error is equal to:</a:t>
            </a:r>
          </a:p>
        </p:txBody>
      </p:sp>
      <p:pic>
        <p:nvPicPr>
          <p:cNvPr id="2320393" name="Picture 9"/>
          <p:cNvPicPr>
            <a:picLocks noGrp="1" noChangeAspect="1" noChangeArrowheads="1"/>
          </p:cNvPicPr>
          <p:nvPr>
            <p:ph sz="half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71900" y="5127625"/>
            <a:ext cx="1524000" cy="6635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083158D7-3695-45AD-B0F3-4D6A367A4F8F}" type="slidenum">
              <a:rPr lang="en-US"/>
              <a:pPr/>
              <a:t>9</a:t>
            </a:fld>
            <a:endParaRPr lang="en-US"/>
          </a:p>
        </p:txBody>
      </p:sp>
      <p:sp>
        <p:nvSpPr>
          <p:cNvPr id="232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381000"/>
            <a:ext cx="8229600" cy="536395"/>
          </a:xfrm>
        </p:spPr>
        <p:txBody>
          <a:bodyPr/>
          <a:lstStyle/>
          <a:p>
            <a:r>
              <a:rPr lang="en-US" sz="4000" dirty="0"/>
              <a:t>PCA </a:t>
            </a:r>
            <a:r>
              <a:rPr lang="en-US" sz="4000" b="1" dirty="0"/>
              <a:t>Standardization</a:t>
            </a:r>
          </a:p>
        </p:txBody>
      </p:sp>
      <p:sp>
        <p:nvSpPr>
          <p:cNvPr id="2321411" name="Rectangle 3"/>
          <p:cNvSpPr>
            <a:spLocks noChangeArrowheads="1"/>
          </p:cNvSpPr>
          <p:nvPr/>
        </p:nvSpPr>
        <p:spPr bwMode="auto">
          <a:xfrm>
            <a:off x="228600" y="12192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b="1" dirty="0">
                <a:solidFill>
                  <a:srgbClr val="808080"/>
                </a:solidFill>
              </a:rPr>
              <a:t>Standardization</a:t>
            </a:r>
            <a:endParaRPr lang="en-US" b="1" dirty="0">
              <a:solidFill>
                <a:srgbClr val="808080"/>
              </a:solidFill>
            </a:endParaRPr>
          </a:p>
        </p:txBody>
      </p:sp>
      <p:sp>
        <p:nvSpPr>
          <p:cNvPr id="2321412" name="Rectangle 4"/>
          <p:cNvSpPr>
            <a:spLocks noChangeArrowheads="1"/>
          </p:cNvSpPr>
          <p:nvPr/>
        </p:nvSpPr>
        <p:spPr bwMode="auto">
          <a:xfrm>
            <a:off x="228600" y="1749425"/>
            <a:ext cx="86106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The principal components are dependent on the </a:t>
            </a:r>
            <a:r>
              <a:rPr lang="en-US" sz="2000" i="1" dirty="0"/>
              <a:t>units </a:t>
            </a:r>
            <a:r>
              <a:rPr lang="en-US" sz="2000" dirty="0"/>
              <a:t>used to measure the original variables as well as on the </a:t>
            </a:r>
            <a:r>
              <a:rPr lang="en-US" sz="2000" i="1" dirty="0"/>
              <a:t>range </a:t>
            </a:r>
            <a:r>
              <a:rPr lang="en-US" sz="2000" dirty="0"/>
              <a:t>of values they assume.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Always standardize the data prior to using PCA.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A common standardization method is to transform all the data to have zero mean and unit standard deviation:</a:t>
            </a:r>
          </a:p>
        </p:txBody>
      </p:sp>
      <p:pic>
        <p:nvPicPr>
          <p:cNvPr id="2321413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4876800"/>
            <a:ext cx="6019800" cy="6889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B1EFA5C0-1CA1-4299-ABD9-F1030D7A6D70}" type="slidenum">
              <a:rPr lang="en-US"/>
              <a:pPr/>
              <a:t>10</a:t>
            </a:fld>
            <a:endParaRPr lang="en-US"/>
          </a:p>
        </p:txBody>
      </p:sp>
      <p:sp>
        <p:nvSpPr>
          <p:cNvPr id="232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381000"/>
            <a:ext cx="8229600" cy="536395"/>
          </a:xfrm>
        </p:spPr>
        <p:txBody>
          <a:bodyPr/>
          <a:lstStyle/>
          <a:p>
            <a:r>
              <a:rPr lang="en-US" sz="4000" dirty="0"/>
              <a:t>Application to </a:t>
            </a:r>
            <a:r>
              <a:rPr lang="en-US" sz="4000" b="1" dirty="0"/>
              <a:t>Faces</a:t>
            </a:r>
          </a:p>
        </p:txBody>
      </p:sp>
      <p:sp>
        <p:nvSpPr>
          <p:cNvPr id="2325507" name="Rectangle 3"/>
          <p:cNvSpPr>
            <a:spLocks noChangeArrowheads="1"/>
          </p:cNvSpPr>
          <p:nvPr/>
        </p:nvSpPr>
        <p:spPr bwMode="auto">
          <a:xfrm>
            <a:off x="228600" y="12192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000" b="1" dirty="0">
                <a:solidFill>
                  <a:srgbClr val="808080"/>
                </a:solidFill>
              </a:rPr>
              <a:t>Computation of low-dimensional basis (i.e.,</a:t>
            </a:r>
            <a:r>
              <a:rPr lang="en-US" sz="2000" b="1" dirty="0" err="1">
                <a:solidFill>
                  <a:srgbClr val="808080"/>
                </a:solidFill>
              </a:rPr>
              <a:t>eigenfaces</a:t>
            </a:r>
            <a:r>
              <a:rPr lang="en-US" sz="2000" b="1" dirty="0">
                <a:solidFill>
                  <a:srgbClr val="808080"/>
                </a:solidFill>
              </a:rPr>
              <a:t>):</a:t>
            </a:r>
          </a:p>
        </p:txBody>
      </p:sp>
      <p:pic>
        <p:nvPicPr>
          <p:cNvPr id="232550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676401"/>
            <a:ext cx="6705600" cy="466172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232551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124200"/>
            <a:ext cx="2590800" cy="2139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D1F0097D-7701-4359-846D-599E0032B3BC}" type="slidenum">
              <a:rPr lang="en-US"/>
              <a:pPr/>
              <a:t>11</a:t>
            </a:fld>
            <a:endParaRPr lang="en-US"/>
          </a:p>
        </p:txBody>
      </p:sp>
      <p:sp>
        <p:nvSpPr>
          <p:cNvPr id="232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533400"/>
            <a:ext cx="8229600" cy="536395"/>
          </a:xfrm>
        </p:spPr>
        <p:txBody>
          <a:bodyPr/>
          <a:lstStyle/>
          <a:p>
            <a:r>
              <a:rPr lang="en-US" sz="3600" b="1" dirty="0"/>
              <a:t>Application</a:t>
            </a:r>
            <a:r>
              <a:rPr lang="en-US" sz="3600" dirty="0"/>
              <a:t> to </a:t>
            </a:r>
            <a:r>
              <a:rPr lang="en-US" sz="3600" b="1" dirty="0"/>
              <a:t>Faces</a:t>
            </a:r>
          </a:p>
        </p:txBody>
      </p:sp>
      <p:sp>
        <p:nvSpPr>
          <p:cNvPr id="2326531" name="Rectangle 3"/>
          <p:cNvSpPr>
            <a:spLocks noChangeArrowheads="1"/>
          </p:cNvSpPr>
          <p:nvPr/>
        </p:nvSpPr>
        <p:spPr bwMode="auto">
          <a:xfrm>
            <a:off x="228600" y="12954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dirty="0">
                <a:solidFill>
                  <a:srgbClr val="808080"/>
                </a:solidFill>
              </a:rPr>
              <a:t>Computation of the </a:t>
            </a:r>
            <a:r>
              <a:rPr lang="en-US" sz="2400" b="1" dirty="0" err="1">
                <a:solidFill>
                  <a:srgbClr val="808080"/>
                </a:solidFill>
              </a:rPr>
              <a:t>eigenfaces</a:t>
            </a:r>
            <a:r>
              <a:rPr lang="en-US" sz="2400" dirty="0">
                <a:solidFill>
                  <a:srgbClr val="808080"/>
                </a:solidFill>
              </a:rPr>
              <a:t> – </a:t>
            </a:r>
            <a:r>
              <a:rPr lang="en-US" sz="2400" dirty="0" err="1">
                <a:solidFill>
                  <a:srgbClr val="808080"/>
                </a:solidFill>
              </a:rPr>
              <a:t>contd</a:t>
            </a:r>
            <a:r>
              <a:rPr lang="en-US" sz="2400" dirty="0">
                <a:solidFill>
                  <a:srgbClr val="808080"/>
                </a:solidFill>
              </a:rPr>
              <a:t>…</a:t>
            </a:r>
          </a:p>
        </p:txBody>
      </p:sp>
      <p:pic>
        <p:nvPicPr>
          <p:cNvPr id="232653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1828800"/>
            <a:ext cx="6019800" cy="426085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graphicFrame>
        <p:nvGraphicFramePr>
          <p:cNvPr id="2326533" name="Object 5"/>
          <p:cNvGraphicFramePr>
            <a:graphicFrameLocks noChangeAspect="1"/>
          </p:cNvGraphicFramePr>
          <p:nvPr/>
        </p:nvGraphicFramePr>
        <p:xfrm>
          <a:off x="4827587" y="5029200"/>
          <a:ext cx="3540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501" imgH="393529" progId="">
                  <p:embed/>
                </p:oleObj>
              </mc:Choice>
              <mc:Fallback>
                <p:oleObj name="Equation" r:id="rId4" imgW="228501" imgH="393529" progId="">
                  <p:embed/>
                  <p:pic>
                    <p:nvPicPr>
                      <p:cNvPr id="2326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7" y="5029200"/>
                        <a:ext cx="3540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384DDC2D-0A70-4FD3-B39C-EEB5925DD2A0}" type="slidenum">
              <a:rPr lang="en-US"/>
              <a:pPr/>
              <a:t>12</a:t>
            </a:fld>
            <a:endParaRPr lang="en-US"/>
          </a:p>
        </p:txBody>
      </p:sp>
      <p:sp>
        <p:nvSpPr>
          <p:cNvPr id="232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457200"/>
            <a:ext cx="8229600" cy="536395"/>
          </a:xfrm>
        </p:spPr>
        <p:txBody>
          <a:bodyPr/>
          <a:lstStyle/>
          <a:p>
            <a:r>
              <a:rPr lang="en-US" sz="4000" dirty="0"/>
              <a:t>Application to </a:t>
            </a:r>
            <a:r>
              <a:rPr lang="en-US" sz="4000" b="1" dirty="0"/>
              <a:t>Faces</a:t>
            </a:r>
          </a:p>
        </p:txBody>
      </p:sp>
      <p:sp>
        <p:nvSpPr>
          <p:cNvPr id="2327555" name="Rectangle 3"/>
          <p:cNvSpPr>
            <a:spLocks noChangeArrowheads="1"/>
          </p:cNvSpPr>
          <p:nvPr/>
        </p:nvSpPr>
        <p:spPr bwMode="auto">
          <a:xfrm>
            <a:off x="228600" y="12192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dirty="0">
                <a:solidFill>
                  <a:srgbClr val="808080"/>
                </a:solidFill>
              </a:rPr>
              <a:t>Computation of the </a:t>
            </a:r>
            <a:r>
              <a:rPr lang="en-US" sz="2400" b="1" dirty="0" err="1">
                <a:solidFill>
                  <a:srgbClr val="808080"/>
                </a:solidFill>
              </a:rPr>
              <a:t>eigenfaces</a:t>
            </a:r>
            <a:r>
              <a:rPr lang="en-US" sz="2400" dirty="0">
                <a:solidFill>
                  <a:srgbClr val="808080"/>
                </a:solidFill>
              </a:rPr>
              <a:t> – contd... </a:t>
            </a:r>
          </a:p>
        </p:txBody>
      </p:sp>
      <p:pic>
        <p:nvPicPr>
          <p:cNvPr id="232755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1619250"/>
            <a:ext cx="7162800" cy="485775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327559" name="Text Box 7"/>
          <p:cNvSpPr txBox="1">
            <a:spLocks noChangeArrowheads="1"/>
          </p:cNvSpPr>
          <p:nvPr/>
        </p:nvSpPr>
        <p:spPr bwMode="auto">
          <a:xfrm>
            <a:off x="4724400" y="4267200"/>
            <a:ext cx="365806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i="1" dirty="0" err="1"/>
              <a:t>u</a:t>
            </a:r>
            <a:r>
              <a:rPr lang="en-US" sz="2000" i="1" baseline="-25000" dirty="0" err="1"/>
              <a:t>i</a:t>
            </a:r>
            <a:endParaRPr lang="en-US" sz="2000" i="1" baseline="-25000" dirty="0"/>
          </a:p>
        </p:txBody>
      </p:sp>
      <p:graphicFrame>
        <p:nvGraphicFramePr>
          <p:cNvPr id="2327561" name="Object 9"/>
          <p:cNvGraphicFramePr>
            <a:graphicFrameLocks noChangeAspect="1"/>
          </p:cNvGraphicFramePr>
          <p:nvPr/>
        </p:nvGraphicFramePr>
        <p:xfrm>
          <a:off x="5410200" y="1600200"/>
          <a:ext cx="1676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400" imgH="241300" progId="">
                  <p:embed/>
                </p:oleObj>
              </mc:Choice>
              <mc:Fallback>
                <p:oleObj name="Equation" r:id="rId4" imgW="787400" imgH="241300" progId="">
                  <p:embed/>
                  <p:pic>
                    <p:nvPicPr>
                      <p:cNvPr id="2327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600200"/>
                        <a:ext cx="16764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7562" name="AutoShape 10"/>
          <p:cNvSpPr>
            <a:spLocks noChangeArrowheads="1"/>
          </p:cNvSpPr>
          <p:nvPr/>
        </p:nvSpPr>
        <p:spPr bwMode="auto">
          <a:xfrm>
            <a:off x="5029200" y="1828800"/>
            <a:ext cx="3048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27563" name="Text Box 11"/>
          <p:cNvSpPr txBox="1">
            <a:spLocks noChangeArrowheads="1"/>
          </p:cNvSpPr>
          <p:nvPr/>
        </p:nvSpPr>
        <p:spPr bwMode="auto">
          <a:xfrm>
            <a:off x="1600200" y="5257800"/>
            <a:ext cx="475615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                                                            </a:t>
            </a:r>
          </a:p>
        </p:txBody>
      </p:sp>
      <p:graphicFrame>
        <p:nvGraphicFramePr>
          <p:cNvPr id="2327564" name="Object 12"/>
          <p:cNvGraphicFramePr>
            <a:graphicFrameLocks noChangeAspect="1"/>
          </p:cNvGraphicFramePr>
          <p:nvPr/>
        </p:nvGraphicFramePr>
        <p:xfrm>
          <a:off x="2743200" y="5334000"/>
          <a:ext cx="281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700" imgH="228600" progId="">
                  <p:embed/>
                </p:oleObj>
              </mc:Choice>
              <mc:Fallback>
                <p:oleObj name="Equation" r:id="rId6" imgW="1409700" imgH="228600" progId="">
                  <p:embed/>
                  <p:pic>
                    <p:nvPicPr>
                      <p:cNvPr id="23275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334000"/>
                        <a:ext cx="281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CBAA2639-9C87-4EC4-B2AD-513F6DBB846B}" type="slidenum">
              <a:rPr lang="en-US"/>
              <a:pPr/>
              <a:t>13</a:t>
            </a:fld>
            <a:endParaRPr lang="en-US"/>
          </a:p>
        </p:txBody>
      </p:sp>
      <p:sp>
        <p:nvSpPr>
          <p:cNvPr id="232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457200"/>
            <a:ext cx="8229600" cy="536395"/>
          </a:xfrm>
        </p:spPr>
        <p:txBody>
          <a:bodyPr/>
          <a:lstStyle/>
          <a:p>
            <a:r>
              <a:rPr lang="en-US" sz="4000" dirty="0"/>
              <a:t>Application to </a:t>
            </a:r>
            <a:r>
              <a:rPr lang="en-US" sz="4000" b="1" dirty="0"/>
              <a:t>Faces</a:t>
            </a:r>
          </a:p>
        </p:txBody>
      </p:sp>
      <p:sp>
        <p:nvSpPr>
          <p:cNvPr id="2328579" name="Rectangle 3"/>
          <p:cNvSpPr>
            <a:spLocks noChangeArrowheads="1"/>
          </p:cNvSpPr>
          <p:nvPr/>
        </p:nvSpPr>
        <p:spPr bwMode="auto">
          <a:xfrm>
            <a:off x="228600" y="12192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dirty="0">
                <a:solidFill>
                  <a:srgbClr val="808080"/>
                </a:solidFill>
              </a:rPr>
              <a:t>Computation of the </a:t>
            </a:r>
            <a:r>
              <a:rPr lang="en-US" sz="2400" b="1" dirty="0" err="1">
                <a:solidFill>
                  <a:srgbClr val="808080"/>
                </a:solidFill>
              </a:rPr>
              <a:t>eigenfaces</a:t>
            </a:r>
            <a:r>
              <a:rPr lang="en-US" sz="2400" dirty="0">
                <a:solidFill>
                  <a:srgbClr val="808080"/>
                </a:solidFill>
              </a:rPr>
              <a:t> – contd..</a:t>
            </a:r>
          </a:p>
        </p:txBody>
      </p:sp>
      <p:pic>
        <p:nvPicPr>
          <p:cNvPr id="232858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828800"/>
            <a:ext cx="7239000" cy="366712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8CDFED7B-A082-422D-8A92-64C06728C54F}" type="slidenum">
              <a:rPr lang="en-US"/>
              <a:pPr/>
              <a:t>14</a:t>
            </a:fld>
            <a:endParaRPr lang="en-US"/>
          </a:p>
        </p:txBody>
      </p:sp>
      <p:sp>
        <p:nvSpPr>
          <p:cNvPr id="2477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1150" y="76200"/>
            <a:ext cx="8521700" cy="701675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Eigenfaces example</a:t>
            </a:r>
          </a:p>
        </p:txBody>
      </p:sp>
      <p:sp>
        <p:nvSpPr>
          <p:cNvPr id="2477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066800"/>
            <a:ext cx="1905000" cy="1447800"/>
          </a:xfrm>
          <a:prstGeom prst="rect">
            <a:avLst/>
          </a:prstGeom>
        </p:spPr>
        <p:txBody>
          <a:bodyPr/>
          <a:lstStyle/>
          <a:p>
            <a:pPr algn="r">
              <a:buFontTx/>
              <a:buNone/>
            </a:pPr>
            <a:r>
              <a:rPr lang="en-US" sz="2400"/>
              <a:t>Training images</a:t>
            </a:r>
          </a:p>
          <a:p>
            <a:pPr algn="r">
              <a:buFontTx/>
              <a:buNone/>
            </a:pPr>
            <a:endParaRPr lang="en-US" baseline="-25000"/>
          </a:p>
        </p:txBody>
      </p:sp>
      <p:pic>
        <p:nvPicPr>
          <p:cNvPr id="247706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990600"/>
            <a:ext cx="56388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39018498-2B23-4285-BC00-DF67410B5912}" type="slidenum">
              <a:rPr lang="en-US"/>
              <a:pPr/>
              <a:t>15</a:t>
            </a:fld>
            <a:endParaRPr lang="en-US"/>
          </a:p>
        </p:txBody>
      </p:sp>
      <p:sp>
        <p:nvSpPr>
          <p:cNvPr id="2479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1150" y="76200"/>
            <a:ext cx="8521700" cy="701675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Eigenfaces example</a:t>
            </a:r>
          </a:p>
        </p:txBody>
      </p:sp>
      <p:sp>
        <p:nvSpPr>
          <p:cNvPr id="2479108" name="Rectangle 6"/>
          <p:cNvSpPr>
            <a:spLocks noChangeArrowheads="1"/>
          </p:cNvSpPr>
          <p:nvPr/>
        </p:nvSpPr>
        <p:spPr bwMode="auto">
          <a:xfrm>
            <a:off x="3810000" y="1138238"/>
            <a:ext cx="4953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>
                <a:cs typeface="Arial" charset="0"/>
              </a:rPr>
              <a:t>Top eigenvectors: u</a:t>
            </a:r>
            <a:r>
              <a:rPr lang="en-US" baseline="-25000">
                <a:cs typeface="Arial" charset="0"/>
              </a:rPr>
              <a:t>1</a:t>
            </a:r>
            <a:r>
              <a:rPr lang="en-US">
                <a:cs typeface="Arial" charset="0"/>
              </a:rPr>
              <a:t>,…u</a:t>
            </a:r>
            <a:r>
              <a:rPr lang="en-US" baseline="-25000">
                <a:cs typeface="Arial" charset="0"/>
              </a:rPr>
              <a:t>k</a:t>
            </a:r>
          </a:p>
        </p:txBody>
      </p:sp>
      <p:sp>
        <p:nvSpPr>
          <p:cNvPr id="2479109" name="Rectangle 7"/>
          <p:cNvSpPr>
            <a:spLocks noChangeArrowheads="1"/>
          </p:cNvSpPr>
          <p:nvPr/>
        </p:nvSpPr>
        <p:spPr bwMode="auto">
          <a:xfrm>
            <a:off x="1603375" y="2438400"/>
            <a:ext cx="130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rgbClr val="808080"/>
                </a:solidFill>
                <a:cs typeface="Arial" charset="0"/>
              </a:rPr>
              <a:t>Mean: μ</a:t>
            </a:r>
          </a:p>
        </p:txBody>
      </p:sp>
      <p:pic>
        <p:nvPicPr>
          <p:cNvPr id="2479110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71800"/>
            <a:ext cx="2120900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9111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752600"/>
            <a:ext cx="4800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AF03F7E2-C2D5-43BF-9810-361057B49128}" type="slidenum">
              <a:rPr lang="en-US"/>
              <a:pPr/>
              <a:t>16</a:t>
            </a:fld>
            <a:endParaRPr lang="en-US"/>
          </a:p>
        </p:txBody>
      </p:sp>
      <p:sp>
        <p:nvSpPr>
          <p:cNvPr id="232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454205"/>
            <a:ext cx="8229600" cy="536395"/>
          </a:xfrm>
        </p:spPr>
        <p:txBody>
          <a:bodyPr/>
          <a:lstStyle/>
          <a:p>
            <a:r>
              <a:rPr lang="en-US" sz="4000" dirty="0"/>
              <a:t>Application to </a:t>
            </a:r>
            <a:r>
              <a:rPr lang="en-US" sz="4000" b="1" dirty="0"/>
              <a:t>Faces</a:t>
            </a:r>
          </a:p>
        </p:txBody>
      </p:sp>
      <p:sp>
        <p:nvSpPr>
          <p:cNvPr id="2329603" name="Rectangle 3"/>
          <p:cNvSpPr>
            <a:spLocks noChangeArrowheads="1"/>
          </p:cNvSpPr>
          <p:nvPr/>
        </p:nvSpPr>
        <p:spPr bwMode="auto">
          <a:xfrm>
            <a:off x="228600" y="11430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000" dirty="0">
                <a:solidFill>
                  <a:srgbClr val="808080"/>
                </a:solidFill>
              </a:rPr>
              <a:t>Projecting faces onto the computed basis of Principal Components:</a:t>
            </a:r>
          </a:p>
        </p:txBody>
      </p:sp>
      <p:pic>
        <p:nvPicPr>
          <p:cNvPr id="232960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563688"/>
            <a:ext cx="7315200" cy="4989512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329605" name="Text Box 5"/>
          <p:cNvSpPr txBox="1">
            <a:spLocks noChangeArrowheads="1"/>
          </p:cNvSpPr>
          <p:nvPr/>
        </p:nvSpPr>
        <p:spPr bwMode="auto">
          <a:xfrm>
            <a:off x="254000" y="5486400"/>
            <a:ext cx="24673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/>
              <a:t>Face reconstruction: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DD2B03F1-FF69-4242-AC30-60C0D760B74F}" type="slidenum">
              <a:rPr lang="en-US"/>
              <a:pPr/>
              <a:t>17</a:t>
            </a:fld>
            <a:endParaRPr lang="en-US"/>
          </a:p>
        </p:txBody>
      </p:sp>
      <p:pic>
        <p:nvPicPr>
          <p:cNvPr id="23337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506538"/>
            <a:ext cx="5562600" cy="3446462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graphicFrame>
        <p:nvGraphicFramePr>
          <p:cNvPr id="2333701" name="Object 5"/>
          <p:cNvGraphicFramePr>
            <a:graphicFrameLocks noChangeAspect="1"/>
          </p:cNvGraphicFramePr>
          <p:nvPr/>
        </p:nvGraphicFramePr>
        <p:xfrm>
          <a:off x="3581400" y="3106737"/>
          <a:ext cx="20574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600" imgH="228600" progId="">
                  <p:embed/>
                </p:oleObj>
              </mc:Choice>
              <mc:Fallback>
                <p:oleObj name="Equation" r:id="rId4" imgW="990600" imgH="228600" progId="">
                  <p:embed/>
                  <p:pic>
                    <p:nvPicPr>
                      <p:cNvPr id="2333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106737"/>
                        <a:ext cx="2057400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3702" name="Rectangle 6"/>
          <p:cNvSpPr>
            <a:spLocks noChangeArrowheads="1"/>
          </p:cNvSpPr>
          <p:nvPr/>
        </p:nvSpPr>
        <p:spPr bwMode="auto">
          <a:xfrm>
            <a:off x="533400" y="4648200"/>
            <a:ext cx="8610600" cy="83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The distance </a:t>
            </a:r>
            <a:r>
              <a:rPr lang="en-US" sz="2000" i="1" dirty="0" err="1"/>
              <a:t>e</a:t>
            </a:r>
            <a:r>
              <a:rPr lang="en-US" sz="2000" i="1" baseline="-25000" dirty="0" err="1"/>
              <a:t>d</a:t>
            </a:r>
            <a:r>
              <a:rPr lang="en-US" sz="2000" i="1" dirty="0"/>
              <a:t> </a:t>
            </a:r>
            <a:r>
              <a:rPr lang="en-US" sz="2000" dirty="0"/>
              <a:t>is called </a:t>
            </a:r>
            <a:r>
              <a:rPr lang="en-US" sz="2000" i="1" u="sng" dirty="0"/>
              <a:t>distance from face space</a:t>
            </a:r>
            <a:r>
              <a:rPr lang="en-US" sz="2000" u="sng" dirty="0"/>
              <a:t> (</a:t>
            </a:r>
            <a:r>
              <a:rPr lang="en-US" sz="2000" i="1" u="sng" dirty="0"/>
              <a:t>DFFS</a:t>
            </a:r>
            <a:r>
              <a:rPr lang="en-US" sz="2000" u="sng" dirty="0"/>
              <a:t>) …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u="sng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u="sng" dirty="0"/>
              <a:t>https://towardsdatascience.com/9-distance-measures-in-data-science-918109d069fa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u="sng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457200"/>
            <a:ext cx="8229600" cy="536395"/>
          </a:xfrm>
        </p:spPr>
        <p:txBody>
          <a:bodyPr/>
          <a:lstStyle/>
          <a:p>
            <a:r>
              <a:rPr lang="en-US" dirty="0" err="1"/>
              <a:t>Eigenfaces</a:t>
            </a:r>
            <a:r>
              <a:rPr lang="en-US" dirty="0"/>
              <a:t> for </a:t>
            </a:r>
            <a:r>
              <a:rPr lang="en-US" b="1" dirty="0"/>
              <a:t>Face Detection</a:t>
            </a: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28330" y="2667000"/>
            <a:ext cx="3163270" cy="1560513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638800" y="1676400"/>
            <a:ext cx="29515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 dirty="0"/>
              <a:t>Visualization of  DFFS:</a:t>
            </a: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14" t="55596" r="35617" b="27084"/>
          <a:stretch/>
        </p:blipFill>
        <p:spPr bwMode="auto">
          <a:xfrm>
            <a:off x="7391400" y="2057400"/>
            <a:ext cx="1511300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92B1605C-EC06-4F49-A704-B55B1DC06F73}" type="slidenum">
              <a:rPr lang="en-US"/>
              <a:pPr/>
              <a:t>18</a:t>
            </a:fld>
            <a:endParaRPr lang="en-US"/>
          </a:p>
        </p:txBody>
      </p:sp>
      <p:sp>
        <p:nvSpPr>
          <p:cNvPr id="233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Eigenfaces</a:t>
            </a:r>
          </a:p>
        </p:txBody>
      </p:sp>
      <p:sp>
        <p:nvSpPr>
          <p:cNvPr id="2336774" name="Rectangle 6"/>
          <p:cNvSpPr>
            <a:spLocks noChangeArrowheads="1"/>
          </p:cNvSpPr>
          <p:nvPr/>
        </p:nvSpPr>
        <p:spPr bwMode="auto">
          <a:xfrm>
            <a:off x="431800" y="1422400"/>
            <a:ext cx="723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dirty="0">
                <a:solidFill>
                  <a:srgbClr val="808080"/>
                </a:solidFill>
              </a:rPr>
              <a:t>Face detection, tracking, and recognition</a:t>
            </a:r>
          </a:p>
        </p:txBody>
      </p:sp>
      <p:pic>
        <p:nvPicPr>
          <p:cNvPr id="233677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2938463"/>
            <a:ext cx="5943600" cy="2932113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336776" name="Text Box 8"/>
          <p:cNvSpPr txBox="1">
            <a:spLocks noChangeArrowheads="1"/>
          </p:cNvSpPr>
          <p:nvPr/>
        </p:nvSpPr>
        <p:spPr bwMode="auto">
          <a:xfrm>
            <a:off x="5257800" y="2060609"/>
            <a:ext cx="16825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808080"/>
                </a:solidFill>
              </a:rPr>
              <a:t>Visualize </a:t>
            </a:r>
            <a:r>
              <a:rPr lang="en-US" sz="2000" dirty="0" err="1">
                <a:solidFill>
                  <a:srgbClr val="808080"/>
                </a:solidFill>
              </a:rPr>
              <a:t>dffs</a:t>
            </a:r>
            <a:r>
              <a:rPr lang="en-US" sz="2000" dirty="0">
                <a:solidFill>
                  <a:srgbClr val="808080"/>
                </a:solidFill>
              </a:rPr>
              <a:t>: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14" t="55596" r="35617" b="27084"/>
          <a:stretch/>
        </p:blipFill>
        <p:spPr bwMode="auto">
          <a:xfrm>
            <a:off x="5343406" y="2438462"/>
            <a:ext cx="1511300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B889C334-52CD-46FF-9E87-DAB67A13DE14}" type="slidenum">
              <a:rPr lang="en-US"/>
              <a:pPr/>
              <a:t>19</a:t>
            </a:fld>
            <a:endParaRPr lang="en-US"/>
          </a:p>
        </p:txBody>
      </p:sp>
      <p:sp>
        <p:nvSpPr>
          <p:cNvPr id="233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457200"/>
            <a:ext cx="8229600" cy="536395"/>
          </a:xfrm>
        </p:spPr>
        <p:txBody>
          <a:bodyPr/>
          <a:lstStyle/>
          <a:p>
            <a:r>
              <a:rPr lang="en-US" dirty="0" err="1"/>
              <a:t>Eigenfaces</a:t>
            </a:r>
            <a:r>
              <a:rPr lang="en-US" dirty="0"/>
              <a:t> for </a:t>
            </a:r>
            <a:r>
              <a:rPr lang="en-US" b="1" dirty="0"/>
              <a:t>Face Recognition</a:t>
            </a:r>
          </a:p>
        </p:txBody>
      </p:sp>
      <p:pic>
        <p:nvPicPr>
          <p:cNvPr id="23316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371600"/>
            <a:ext cx="7239000" cy="470058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graphicFrame>
        <p:nvGraphicFramePr>
          <p:cNvPr id="2331653" name="Object 5"/>
          <p:cNvGraphicFramePr>
            <a:graphicFrameLocks noChangeAspect="1"/>
          </p:cNvGraphicFramePr>
          <p:nvPr/>
        </p:nvGraphicFramePr>
        <p:xfrm>
          <a:off x="6172200" y="3124200"/>
          <a:ext cx="20574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600" imgH="228600" progId="">
                  <p:embed/>
                </p:oleObj>
              </mc:Choice>
              <mc:Fallback>
                <p:oleObj name="Equation" r:id="rId4" imgW="990600" imgH="228600" progId="">
                  <p:embed/>
                  <p:pic>
                    <p:nvPicPr>
                      <p:cNvPr id="23316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124200"/>
                        <a:ext cx="2057400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1654" name="Object 6"/>
          <p:cNvGraphicFramePr>
            <a:graphicFrameLocks noChangeAspect="1"/>
          </p:cNvGraphicFramePr>
          <p:nvPr/>
        </p:nvGraphicFramePr>
        <p:xfrm>
          <a:off x="5257800" y="5091112"/>
          <a:ext cx="2452688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300" imgH="431800" progId="">
                  <p:embed/>
                </p:oleObj>
              </mc:Choice>
              <mc:Fallback>
                <p:oleObj name="Equation" r:id="rId6" imgW="1511300" imgH="431800" progId="">
                  <p:embed/>
                  <p:pic>
                    <p:nvPicPr>
                      <p:cNvPr id="2331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091112"/>
                        <a:ext cx="2452688" cy="700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1655" name="Text Box 7"/>
          <p:cNvSpPr txBox="1">
            <a:spLocks noChangeArrowheads="1"/>
          </p:cNvSpPr>
          <p:nvPr/>
        </p:nvSpPr>
        <p:spPr bwMode="auto">
          <a:xfrm>
            <a:off x="4267200" y="5243512"/>
            <a:ext cx="8835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i="1" dirty="0"/>
              <a:t>where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C7BF40B6-A30E-4B72-8E69-FDB152151C21}" type="slidenum">
              <a:rPr lang="en-US"/>
              <a:pPr/>
              <a:t>20</a:t>
            </a:fld>
            <a:endParaRPr lang="en-US"/>
          </a:p>
        </p:txBody>
      </p:sp>
      <p:sp>
        <p:nvSpPr>
          <p:cNvPr id="2489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21700" cy="641350"/>
          </a:xfrm>
        </p:spPr>
        <p:txBody>
          <a:bodyPr/>
          <a:lstStyle/>
          <a:p>
            <a:r>
              <a:rPr lang="en-US" sz="3600"/>
              <a:t>Reconstruction using partial information</a:t>
            </a:r>
          </a:p>
        </p:txBody>
      </p:sp>
      <p:pic>
        <p:nvPicPr>
          <p:cNvPr id="2489348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2514600"/>
            <a:ext cx="5105400" cy="245903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489349" name="Text Box 5"/>
          <p:cNvSpPr txBox="1">
            <a:spLocks noChangeArrowheads="1"/>
          </p:cNvSpPr>
          <p:nvPr/>
        </p:nvSpPr>
        <p:spPr bwMode="auto">
          <a:xfrm>
            <a:off x="669925" y="1336675"/>
            <a:ext cx="50273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400" b="1" dirty="0">
                <a:solidFill>
                  <a:srgbClr val="808080"/>
                </a:solidFill>
              </a:rPr>
              <a:t> </a:t>
            </a:r>
            <a:r>
              <a:rPr lang="en-US" sz="2400" dirty="0">
                <a:solidFill>
                  <a:srgbClr val="808080"/>
                </a:solidFill>
              </a:rPr>
              <a:t>Robust to </a:t>
            </a:r>
            <a:r>
              <a:rPr lang="en-US" sz="2400" b="1" u="sng" dirty="0">
                <a:solidFill>
                  <a:srgbClr val="808080"/>
                </a:solidFill>
              </a:rPr>
              <a:t>partial face occlusion</a:t>
            </a:r>
            <a:r>
              <a:rPr lang="en-US" sz="2400" b="1" dirty="0">
                <a:solidFill>
                  <a:srgbClr val="808080"/>
                </a:solidFill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783" y="2145268"/>
            <a:ext cx="378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808080"/>
                </a:solidFill>
              </a:rPr>
              <a:t>Input                         Reconstructed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74708C93-A0F5-4EFE-A362-D881F0D28114}" type="slidenum">
              <a:rPr lang="en-US"/>
              <a:pPr/>
              <a:t>21</a:t>
            </a:fld>
            <a:endParaRPr lang="en-US"/>
          </a:p>
        </p:txBody>
      </p:sp>
      <p:sp>
        <p:nvSpPr>
          <p:cNvPr id="2483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1150" y="288925"/>
            <a:ext cx="8521700" cy="701675"/>
          </a:xfrm>
          <a:prstGeom prst="rect">
            <a:avLst/>
          </a:prstGeom>
        </p:spPr>
        <p:txBody>
          <a:bodyPr anchor="ctr"/>
          <a:lstStyle/>
          <a:p>
            <a:r>
              <a:rPr lang="en-US" sz="4000" dirty="0"/>
              <a:t>Eigen-Faces: </a:t>
            </a:r>
            <a:r>
              <a:rPr lang="en-US" sz="4000" b="1" dirty="0"/>
              <a:t> Limitations</a:t>
            </a:r>
            <a:endParaRPr lang="en-US" sz="4000" dirty="0"/>
          </a:p>
        </p:txBody>
      </p:sp>
      <p:sp>
        <p:nvSpPr>
          <p:cNvPr id="2483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5913" y="1143000"/>
            <a:ext cx="8510587" cy="990600"/>
          </a:xfrm>
          <a:prstGeom prst="rect">
            <a:avLst/>
          </a:prstGeom>
        </p:spPr>
        <p:txBody>
          <a:bodyPr/>
          <a:lstStyle/>
          <a:p>
            <a:r>
              <a:rPr lang="en-US" sz="2800" dirty="0"/>
              <a:t>PCA assumes that the data follows a Gaussian distribution (mean </a:t>
            </a:r>
            <a:r>
              <a:rPr lang="en-US" sz="2800" dirty="0">
                <a:cs typeface="Arial" charset="0"/>
              </a:rPr>
              <a:t>µ, covariance matrix </a:t>
            </a:r>
            <a:r>
              <a:rPr lang="el-GR" sz="2800" dirty="0">
                <a:cs typeface="Arial" charset="0"/>
              </a:rPr>
              <a:t>Σ</a:t>
            </a:r>
            <a:r>
              <a:rPr lang="en-US" sz="2800" dirty="0">
                <a:cs typeface="Arial" charset="0"/>
              </a:rPr>
              <a:t>)…</a:t>
            </a:r>
          </a:p>
          <a:p>
            <a:r>
              <a:rPr lang="en-US" sz="2800" dirty="0" err="1">
                <a:cs typeface="Arial" charset="0"/>
              </a:rPr>
              <a:t>Eg</a:t>
            </a:r>
            <a:r>
              <a:rPr lang="en-US" sz="2800" dirty="0">
                <a:cs typeface="Arial" charset="0"/>
              </a:rPr>
              <a:t>: </a:t>
            </a: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The shape of this dataset is not well described by its principal components –  </a:t>
            </a:r>
          </a:p>
          <a:p>
            <a:endParaRPr lang="en-US" sz="2800" dirty="0">
              <a:cs typeface="Arial" charset="0"/>
            </a:endParaRPr>
          </a:p>
        </p:txBody>
      </p:sp>
      <p:pic>
        <p:nvPicPr>
          <p:cNvPr id="127386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048000"/>
            <a:ext cx="3962400" cy="3256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1825C40F-3578-43EC-981D-105D94FE31B3}" type="slidenum">
              <a:rPr lang="en-US"/>
              <a:pPr/>
              <a:t>22</a:t>
            </a:fld>
            <a:endParaRPr lang="en-US"/>
          </a:p>
        </p:txBody>
      </p:sp>
      <p:sp>
        <p:nvSpPr>
          <p:cNvPr id="233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381000"/>
            <a:ext cx="8229600" cy="536395"/>
          </a:xfrm>
        </p:spPr>
        <p:txBody>
          <a:bodyPr/>
          <a:lstStyle/>
          <a:p>
            <a:r>
              <a:rPr lang="en-US" sz="3600" dirty="0"/>
              <a:t>Eigen-Faces: </a:t>
            </a:r>
            <a:r>
              <a:rPr lang="en-US" sz="3600" b="1" dirty="0"/>
              <a:t> Limitations</a:t>
            </a:r>
          </a:p>
        </p:txBody>
      </p:sp>
      <p:sp>
        <p:nvSpPr>
          <p:cNvPr id="2337796" name="Rectangle 4"/>
          <p:cNvSpPr>
            <a:spLocks noChangeArrowheads="1"/>
          </p:cNvSpPr>
          <p:nvPr/>
        </p:nvSpPr>
        <p:spPr bwMode="auto">
          <a:xfrm>
            <a:off x="228600" y="1371600"/>
            <a:ext cx="86868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000" b="1" dirty="0">
                <a:solidFill>
                  <a:srgbClr val="FF9900"/>
                </a:solidFill>
              </a:rPr>
              <a:t>Background</a:t>
            </a:r>
            <a:r>
              <a:rPr lang="en-US" sz="2000" dirty="0">
                <a:solidFill>
                  <a:srgbClr val="FF9900"/>
                </a:solidFill>
              </a:rPr>
              <a:t> </a:t>
            </a:r>
            <a:r>
              <a:rPr lang="en-US" sz="2000" dirty="0">
                <a:solidFill>
                  <a:srgbClr val="808080"/>
                </a:solidFill>
              </a:rPr>
              <a:t>changes</a:t>
            </a:r>
            <a:r>
              <a:rPr lang="en-US" sz="2000" dirty="0">
                <a:solidFill>
                  <a:srgbClr val="FF9900"/>
                </a:solidFill>
              </a:rPr>
              <a:t> </a:t>
            </a:r>
            <a:r>
              <a:rPr lang="en-US" sz="2000" dirty="0">
                <a:solidFill>
                  <a:srgbClr val="808080"/>
                </a:solidFill>
              </a:rPr>
              <a:t>cause problems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De-emphasize the outside of the face  (e.g., by multiplying the input image by a 2D Gaussian window centered on the face).</a:t>
            </a:r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000" b="1" dirty="0">
                <a:solidFill>
                  <a:srgbClr val="FF9900"/>
                </a:solidFill>
              </a:rPr>
              <a:t>Light changes</a:t>
            </a:r>
            <a:r>
              <a:rPr lang="en-US" sz="2000" b="1" dirty="0">
                <a:solidFill>
                  <a:srgbClr val="808080"/>
                </a:solidFill>
              </a:rPr>
              <a:t> </a:t>
            </a:r>
            <a:r>
              <a:rPr lang="en-US" sz="2000" dirty="0">
                <a:solidFill>
                  <a:srgbClr val="808080"/>
                </a:solidFill>
              </a:rPr>
              <a:t>degrade performance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Light normalization helps.</a:t>
            </a:r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000" dirty="0">
                <a:solidFill>
                  <a:srgbClr val="808080"/>
                </a:solidFill>
              </a:rPr>
              <a:t>Performance decreases quickly with changes to </a:t>
            </a:r>
            <a:r>
              <a:rPr lang="en-US" sz="2000" b="1" dirty="0">
                <a:solidFill>
                  <a:srgbClr val="FF9900"/>
                </a:solidFill>
              </a:rPr>
              <a:t>face size</a:t>
            </a:r>
          </a:p>
          <a:p>
            <a:pPr marL="1143000" lvl="2" indent="-22860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Multi-scale </a:t>
            </a:r>
            <a:r>
              <a:rPr lang="en-US" sz="2000" dirty="0" err="1">
                <a:solidFill>
                  <a:srgbClr val="808080"/>
                </a:solidFill>
              </a:rPr>
              <a:t>eigenspaces</a:t>
            </a:r>
            <a:r>
              <a:rPr lang="en-US" sz="2000" dirty="0">
                <a:solidFill>
                  <a:srgbClr val="808080"/>
                </a:solidFill>
              </a:rPr>
              <a:t>.</a:t>
            </a:r>
          </a:p>
          <a:p>
            <a:pPr marL="1143000" lvl="2" indent="-22860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Scale input image to multiple sizes.</a:t>
            </a:r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000" dirty="0">
                <a:solidFill>
                  <a:srgbClr val="808080"/>
                </a:solidFill>
              </a:rPr>
              <a:t>Performance decreases with changes to </a:t>
            </a:r>
            <a:r>
              <a:rPr lang="en-US" sz="2000" b="1" dirty="0">
                <a:solidFill>
                  <a:srgbClr val="FF9900"/>
                </a:solidFill>
              </a:rPr>
              <a:t>face orientation</a:t>
            </a:r>
            <a:r>
              <a:rPr lang="en-US" sz="2000" b="1" dirty="0">
                <a:solidFill>
                  <a:srgbClr val="808080"/>
                </a:solidFill>
              </a:rPr>
              <a:t> </a:t>
            </a:r>
            <a:r>
              <a:rPr lang="en-US" sz="2000" dirty="0">
                <a:solidFill>
                  <a:srgbClr val="808080"/>
                </a:solidFill>
              </a:rPr>
              <a:t>(but not as fast as with scale changes)</a:t>
            </a:r>
          </a:p>
          <a:p>
            <a:pPr marL="1143000" lvl="2" indent="-22860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Plane rotations are easier to handle.</a:t>
            </a:r>
          </a:p>
          <a:p>
            <a:pPr marL="1143000" lvl="2" indent="-22860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>
                <a:solidFill>
                  <a:srgbClr val="808080"/>
                </a:solidFill>
              </a:rPr>
              <a:t>Out-of-plane rotations are more difficult to handle.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779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162800" y="6324600"/>
            <a:ext cx="1676400" cy="457200"/>
          </a:xfrm>
          <a:prstGeom prst="rect">
            <a:avLst/>
          </a:prstGeom>
        </p:spPr>
        <p:txBody>
          <a:bodyPr/>
          <a:lstStyle/>
          <a:p>
            <a:fld id="{1F7E65DF-2D57-42A3-91A8-B5E0176086E8}" type="slidenum">
              <a:rPr lang="en-US"/>
              <a:pPr/>
              <a:t>23</a:t>
            </a:fld>
            <a:endParaRPr lang="en-US"/>
          </a:p>
        </p:txBody>
      </p:sp>
      <p:sp>
        <p:nvSpPr>
          <p:cNvPr id="2487300" name="Rectangle 4"/>
          <p:cNvSpPr>
            <a:spLocks noChangeArrowheads="1"/>
          </p:cNvSpPr>
          <p:nvPr/>
        </p:nvSpPr>
        <p:spPr bwMode="auto">
          <a:xfrm>
            <a:off x="304800" y="1219200"/>
            <a:ext cx="8382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PCA is not always an optimal dimensionality-reduction procedure for classification purposes: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charset="0"/>
              <a:buChar char="−"/>
            </a:pPr>
            <a:r>
              <a:rPr lang="en-US" sz="2000" dirty="0"/>
              <a:t>Solution..?  </a:t>
            </a:r>
            <a:r>
              <a:rPr lang="en-US" sz="2000" b="1" dirty="0"/>
              <a:t>Linear Discriminant Analysis</a:t>
            </a:r>
            <a:r>
              <a:rPr lang="en-US" sz="2000" dirty="0"/>
              <a:t>!  Next class…</a:t>
            </a:r>
          </a:p>
        </p:txBody>
      </p:sp>
      <p:pic>
        <p:nvPicPr>
          <p:cNvPr id="248730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2209800"/>
            <a:ext cx="5943600" cy="317023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85638" y="381000"/>
            <a:ext cx="8229600" cy="536395"/>
          </a:xfrm>
        </p:spPr>
        <p:txBody>
          <a:bodyPr/>
          <a:lstStyle/>
          <a:p>
            <a:r>
              <a:rPr lang="en-US" sz="3600" dirty="0"/>
              <a:t>Eigen-Faces: </a:t>
            </a:r>
            <a:r>
              <a:rPr lang="en-US" sz="3600" b="1" dirty="0"/>
              <a:t> Limitations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3802</TotalTime>
  <Words>785</Words>
  <Application>Microsoft Macintosh PowerPoint</Application>
  <PresentationFormat>On-screen Show (4:3)</PresentationFormat>
  <Paragraphs>156</Paragraphs>
  <Slides>23</Slides>
  <Notes>23</Notes>
  <HiddenSlides>3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Symbol</vt:lpstr>
      <vt:lpstr>Wingdings</vt:lpstr>
      <vt:lpstr>Default Design</vt:lpstr>
      <vt:lpstr>Equation</vt:lpstr>
      <vt:lpstr>Principal Component Analysis (PCA)</vt:lpstr>
      <vt:lpstr>Principal Component Analysis (PCA)</vt:lpstr>
      <vt:lpstr>Principal Component Analysis (PCA)</vt:lpstr>
      <vt:lpstr>Principal Component Analysis (PCA)</vt:lpstr>
      <vt:lpstr>Principal Component Analysis (PCA)</vt:lpstr>
      <vt:lpstr>Principal Component Analysis (PCA)</vt:lpstr>
      <vt:lpstr>Principal Component Analysis (PCA)</vt:lpstr>
      <vt:lpstr>Principal Component Analysis (PCA)</vt:lpstr>
      <vt:lpstr>PCA Standardization</vt:lpstr>
      <vt:lpstr>Application to Faces</vt:lpstr>
      <vt:lpstr>Application to Faces</vt:lpstr>
      <vt:lpstr>Application to Faces</vt:lpstr>
      <vt:lpstr>Application to Faces</vt:lpstr>
      <vt:lpstr>Eigenfaces example</vt:lpstr>
      <vt:lpstr>Eigenfaces example</vt:lpstr>
      <vt:lpstr>Application to Faces</vt:lpstr>
      <vt:lpstr>Eigenfaces for Face Detection</vt:lpstr>
      <vt:lpstr>Eigenfaces</vt:lpstr>
      <vt:lpstr>Eigenfaces for Face Recognition</vt:lpstr>
      <vt:lpstr>Reconstruction using partial information</vt:lpstr>
      <vt:lpstr>Eigen-Faces:  Limitations</vt:lpstr>
      <vt:lpstr>Eigen-Faces:  Limitations</vt:lpstr>
      <vt:lpstr>Eigen-Faces: 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Biomedical Imaging  &amp; Analysis Lecture 6, Part 6.  Fall 2014</dc:title>
  <dc:creator>Prahlad G Menon</dc:creator>
  <cp:lastModifiedBy>Prahlad Menon</cp:lastModifiedBy>
  <cp:revision>102</cp:revision>
  <cp:lastPrinted>2021-03-03T05:31:46Z</cp:lastPrinted>
  <dcterms:created xsi:type="dcterms:W3CDTF">2014-10-23T03:27:30Z</dcterms:created>
  <dcterms:modified xsi:type="dcterms:W3CDTF">2025-03-03T14:33:15Z</dcterms:modified>
</cp:coreProperties>
</file>